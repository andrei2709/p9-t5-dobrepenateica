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823086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132320" y="-548640"/>
            <a:ext cx="3200400" cy="3200400"/>
          </a:xfrm>
          <a:prstGeom prst="ellipse">
            <a:avLst/>
          </a:prstGeom>
          <a:solidFill>
            <a:srgbClr val="1A3A8F">
              <a:alpha val="40000"/>
            </a:srgbClr>
          </a:solidFill>
          <a:ln w="12700">
            <a:solidFill>
              <a:srgbClr val="1A3A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772400" y="2560320"/>
            <a:ext cx="2011680" cy="2011680"/>
          </a:xfrm>
          <a:prstGeom prst="ellipse">
            <a:avLst/>
          </a:prstGeom>
          <a:solidFill>
            <a:srgbClr val="2563EB">
              <a:alpha val="30000"/>
            </a:srgbClr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100584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BFCB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 Information System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02920" y="160020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Banking Transactions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502920" y="2468880"/>
            <a:ext cx="3840480" cy="36576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02920" y="260604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BFCB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Prezentarea funcționalităților implementate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02920" y="40233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BFCB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Dobre Marina-Iulia  •  Pena Andrei-Alexandru  •  Teică David-Ștefan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BFCB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Facultatea de Automatică, Calculatoare și Electronică  •  2026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02920" y="3246120"/>
            <a:ext cx="2194560" cy="384048"/>
          </a:xfrm>
          <a:prstGeom prst="roundRect">
            <a:avLst>
              <a:gd name="adj" fmla="val 14286"/>
            </a:avLst>
          </a:prstGeom>
          <a:solidFill>
            <a:srgbClr val="1A3A8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02920" y="324612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ASP.NET Core 9  +  PostgreSQL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Cuprins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4160520" cy="1143000"/>
          </a:xfrm>
          <a:prstGeom prst="rect">
            <a:avLst/>
          </a:prstGeom>
          <a:solidFill>
            <a:srgbClr val="F1F5F9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502920" cy="114300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1097280"/>
            <a:ext cx="502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60120" y="120700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Înregistrare &amp; Autentificare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60120" y="160020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Creare cont, login securizat, gestionare sesiune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65760" y="2359152"/>
            <a:ext cx="4160520" cy="1143000"/>
          </a:xfrm>
          <a:prstGeom prst="rect">
            <a:avLst/>
          </a:prstGeom>
          <a:solidFill>
            <a:srgbClr val="F1F5F9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65760" y="2359152"/>
            <a:ext cx="502920" cy="114300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65760" y="2359152"/>
            <a:ext cx="502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60120" y="24688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Gestionare Conturi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60120" y="2862072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Vizualizare conturi EUR/USD/RON, solduri, IBAN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65760" y="3621024"/>
            <a:ext cx="4160520" cy="1143000"/>
          </a:xfrm>
          <a:prstGeom prst="rect">
            <a:avLst/>
          </a:prstGeom>
          <a:solidFill>
            <a:srgbClr val="F1F5F9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65760" y="3621024"/>
            <a:ext cx="502920" cy="114300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65760" y="3621024"/>
            <a:ext cx="502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960120" y="373075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Transferuri Financiare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60120" y="4123944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Transferuri între conturi, validări, istoric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800600" y="1097280"/>
            <a:ext cx="4160520" cy="1143000"/>
          </a:xfrm>
          <a:prstGeom prst="rect">
            <a:avLst/>
          </a:prstGeom>
          <a:solidFill>
            <a:srgbClr val="F1F5F9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800600" y="1097280"/>
            <a:ext cx="502920" cy="114300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800600" y="1097280"/>
            <a:ext cx="502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394960" y="120700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Plăți Facturi (Bill Payments)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394960" y="160020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Plăți utilități, furnizori salvați, chitanțe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800600" y="2359152"/>
            <a:ext cx="4160520" cy="1143000"/>
          </a:xfrm>
          <a:prstGeom prst="rect">
            <a:avLst/>
          </a:prstGeom>
          <a:solidFill>
            <a:srgbClr val="F1F5F9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800600" y="2359152"/>
            <a:ext cx="502920" cy="114300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800600" y="2359152"/>
            <a:ext cx="502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5394960" y="24688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 &amp; Setări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394960" y="2862072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personale, schimbare parolă, carduri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800600" y="3621024"/>
            <a:ext cx="4160520" cy="1143000"/>
          </a:xfrm>
          <a:prstGeom prst="rect">
            <a:avLst/>
          </a:prstGeom>
          <a:solidFill>
            <a:srgbClr val="F1F5F9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4800600" y="3621024"/>
            <a:ext cx="502920" cy="114300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800600" y="3621024"/>
            <a:ext cx="502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5394960" y="373075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Arhitectură &amp; Tehnologii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394960" y="4123944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tehnic, baza de date, securitate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Arhitectura Sistemului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1188720"/>
            <a:ext cx="1920240" cy="1005840"/>
          </a:xfrm>
          <a:prstGeom prst="rect">
            <a:avLst/>
          </a:prstGeom>
          <a:solidFill>
            <a:srgbClr val="2563EB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20040" y="128016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20040" y="1719072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Web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240280" y="1664208"/>
            <a:ext cx="502920" cy="45720"/>
          </a:xfrm>
          <a:prstGeom prst="rect">
            <a:avLst/>
          </a:prstGeom>
          <a:solidFill>
            <a:srgbClr val="6474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651760" y="1536192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423160" y="1188720"/>
            <a:ext cx="1920240" cy="1005840"/>
          </a:xfrm>
          <a:prstGeom prst="rect">
            <a:avLst/>
          </a:prstGeom>
          <a:solidFill>
            <a:srgbClr val="0369A1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423160" y="128016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SERVER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423160" y="1719072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Razor Pages (ASP.NET Core 9)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343400" y="1664208"/>
            <a:ext cx="502920" cy="45720"/>
          </a:xfrm>
          <a:prstGeom prst="rect">
            <a:avLst/>
          </a:prstGeom>
          <a:solidFill>
            <a:srgbClr val="6474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754880" y="1536192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26280" y="1188720"/>
            <a:ext cx="1920240" cy="1005840"/>
          </a:xfrm>
          <a:prstGeom prst="rect">
            <a:avLst/>
          </a:prstGeom>
          <a:solidFill>
            <a:srgbClr val="047857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526280" y="128016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SERVER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26280" y="1719072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Logic &amp; Controllers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446520" y="1664208"/>
            <a:ext cx="502920" cy="45720"/>
          </a:xfrm>
          <a:prstGeom prst="rect">
            <a:avLst/>
          </a:prstGeom>
          <a:solidFill>
            <a:srgbClr val="6474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858000" y="1536192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629400" y="1188720"/>
            <a:ext cx="1920240" cy="1005840"/>
          </a:xfrm>
          <a:prstGeom prst="rect">
            <a:avLst/>
          </a:prstGeom>
          <a:solidFill>
            <a:srgbClr val="7C3AED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629400" y="128016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SERVER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629400" y="1719072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+ EF Core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2423160" y="2834640"/>
            <a:ext cx="1920240" cy="868680"/>
          </a:xfrm>
          <a:prstGeom prst="rect">
            <a:avLst/>
          </a:prstGeom>
          <a:solidFill>
            <a:srgbClr val="991B1B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2423160" y="290779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D1: Client DB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2423160" y="327355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Clienți &amp; credențiale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337560" y="2194560"/>
            <a:ext cx="45720" cy="640080"/>
          </a:xfrm>
          <a:prstGeom prst="rect">
            <a:avLst/>
          </a:prstGeom>
          <a:solidFill>
            <a:srgbClr val="6474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526280" y="2834640"/>
            <a:ext cx="1920240" cy="868680"/>
          </a:xfrm>
          <a:prstGeom prst="rect">
            <a:avLst/>
          </a:prstGeom>
          <a:solidFill>
            <a:srgbClr val="065F46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526280" y="290779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D2: Account DB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526280" y="327355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Conturi &amp; tranzacții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440680" y="2194560"/>
            <a:ext cx="45720" cy="640080"/>
          </a:xfrm>
          <a:prstGeom prst="rect">
            <a:avLst/>
          </a:prstGeom>
          <a:solidFill>
            <a:srgbClr val="6474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6629400" y="2834640"/>
            <a:ext cx="1920240" cy="868680"/>
          </a:xfrm>
          <a:prstGeom prst="rect">
            <a:avLst/>
          </a:prstGeom>
          <a:solidFill>
            <a:srgbClr val="5B21B6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629400" y="290779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D3: Transaction Log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629400" y="327355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Istoric operațiuni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7543800" y="2194560"/>
            <a:ext cx="45720" cy="640080"/>
          </a:xfrm>
          <a:prstGeom prst="rect">
            <a:avLst/>
          </a:prstGeom>
          <a:solidFill>
            <a:srgbClr val="6474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1508760" y="1463040"/>
            <a:ext cx="1005840" cy="274320"/>
          </a:xfrm>
          <a:prstGeom prst="roundRect">
            <a:avLst>
              <a:gd name="adj" fmla="val 16667"/>
            </a:avLst>
          </a:prstGeom>
          <a:solidFill>
            <a:srgbClr val="EEF2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1508760" y="146304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320040" y="3840480"/>
            <a:ext cx="8503920" cy="96012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457200" y="3959352"/>
            <a:ext cx="8321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tehnic: </a:t>
            </a: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ASP.NET Core 9 (Razor Pages) • PostgreSQL 16 • Entity Framework Core • HTTPS • Session Tokens • bcrypt hashing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91440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|  Înregistrare &amp; Autentificare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4023360" cy="3749040"/>
          </a:xfrm>
          <a:prstGeom prst="rect">
            <a:avLst/>
          </a:prstGeom>
          <a:solidFill>
            <a:srgbClr val="F1F5F9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" y="1051560"/>
            <a:ext cx="4023360" cy="438912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20040" y="1051560"/>
            <a:ext cx="3931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Înregistrare (Sign Up)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38912" y="1673352"/>
            <a:ext cx="164592" cy="164592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94944" y="1627632"/>
            <a:ext cx="34564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Formular cu Nume, Prenume, CNP, Email, Telefon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38912" y="2176272"/>
            <a:ext cx="164592" cy="164592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94944" y="2130552"/>
            <a:ext cx="34564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Validare parolă cu confirmare (REQ-7)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38912" y="2679192"/>
            <a:ext cx="164592" cy="164592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94944" y="2633472"/>
            <a:ext cx="34564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Verificare vârstă minimă 18 ani (REQ-8)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38912" y="3182112"/>
            <a:ext cx="164592" cy="164592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94944" y="3136392"/>
            <a:ext cx="34564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Generare automată Client ID unic (REQ-6)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38912" y="3685032"/>
            <a:ext cx="164592" cy="164592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94944" y="3639312"/>
            <a:ext cx="34564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Stocare securizată în baza de date (REQ-10)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38912" y="4187952"/>
            <a:ext cx="164592" cy="164592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94944" y="4142232"/>
            <a:ext cx="34564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redirect către pagina de Login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54880" y="1051560"/>
            <a:ext cx="4023360" cy="3749040"/>
          </a:xfrm>
          <a:prstGeom prst="rect">
            <a:avLst/>
          </a:prstGeom>
          <a:solidFill>
            <a:srgbClr val="F1F5F9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754880" y="1051560"/>
            <a:ext cx="4023360" cy="438912"/>
          </a:xfrm>
          <a:prstGeom prst="rect">
            <a:avLst/>
          </a:prstGeom>
          <a:solidFill>
            <a:srgbClr val="0369A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800600" y="1051560"/>
            <a:ext cx="3931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Autentificare (Log In)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919472" y="1673352"/>
            <a:ext cx="164592" cy="164592"/>
          </a:xfrm>
          <a:prstGeom prst="ellipse">
            <a:avLst/>
          </a:prstGeom>
          <a:solidFill>
            <a:srgbClr val="0369A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175504" y="1627632"/>
            <a:ext cx="34564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cu Client ID + parolă mascată (REQ-11, 12)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919472" y="2176272"/>
            <a:ext cx="164592" cy="164592"/>
          </a:xfrm>
          <a:prstGeom prst="ellipse">
            <a:avLst/>
          </a:prstGeom>
          <a:solidFill>
            <a:srgbClr val="0369A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175504" y="2130552"/>
            <a:ext cx="34564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Verificare credențiale față de baza de date (REQ-13)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919472" y="2633471"/>
            <a:ext cx="164592" cy="164592"/>
          </a:xfrm>
          <a:prstGeom prst="ellipse">
            <a:avLst/>
          </a:prstGeom>
          <a:solidFill>
            <a:srgbClr val="0369A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5175504" y="2587751"/>
            <a:ext cx="34564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de sesiune generat la login (REQ-18)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919472" y="3136391"/>
            <a:ext cx="164592" cy="164592"/>
          </a:xfrm>
          <a:prstGeom prst="ellipse">
            <a:avLst/>
          </a:prstGeom>
          <a:solidFill>
            <a:srgbClr val="0369A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5175504" y="3090671"/>
            <a:ext cx="34564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Afișare "Logged in as [Nume]" în header (REQ-19)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919472" y="3639311"/>
            <a:ext cx="164592" cy="164592"/>
          </a:xfrm>
          <a:prstGeom prst="ellipse">
            <a:avLst/>
          </a:prstGeom>
          <a:solidFill>
            <a:srgbClr val="0369A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5175504" y="3593591"/>
            <a:ext cx="34564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Buton Log Out cu invalidare sesiune (REQ-17)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914400"/>
          </a:xfrm>
          <a:prstGeom prst="rect">
            <a:avLst/>
          </a:prstGeom>
          <a:solidFill>
            <a:srgbClr val="04785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|  Gestionare Conturi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2697480" cy="1463040"/>
          </a:xfrm>
          <a:prstGeom prst="rect">
            <a:avLst/>
          </a:prstGeom>
          <a:solidFill>
            <a:srgbClr val="1D4ED8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1097280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RON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274320" y="1719072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 Românești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74320" y="201168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BFCB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 curent principal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200400" y="1051560"/>
            <a:ext cx="2697480" cy="1463040"/>
          </a:xfrm>
          <a:prstGeom prst="rect">
            <a:avLst/>
          </a:prstGeom>
          <a:solidFill>
            <a:srgbClr val="047857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200400" y="1097280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3200400" y="1719072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Euro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200400" y="201168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BFCB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 în valută europeană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126480" y="1051560"/>
            <a:ext cx="2697480" cy="1463040"/>
          </a:xfrm>
          <a:prstGeom prst="rect">
            <a:avLst/>
          </a:prstGeom>
          <a:solidFill>
            <a:srgbClr val="B45309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126480" y="1097280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6126480" y="1719072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Dolari Americani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126480" y="201168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BFCB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 în valută americană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74320" y="2697480"/>
            <a:ext cx="2697480" cy="1005840"/>
          </a:xfrm>
          <a:prstGeom prst="rect">
            <a:avLst/>
          </a:prstGeom>
          <a:solidFill>
            <a:srgbClr val="F1F5F9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274320" y="2697480"/>
            <a:ext cx="73152" cy="1005840"/>
          </a:xfrm>
          <a:prstGeom prst="rect">
            <a:avLst/>
          </a:prstGeom>
          <a:solidFill>
            <a:srgbClr val="1D4E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11480" y="2788920"/>
            <a:ext cx="24963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Vizualizare sold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11480" y="3127248"/>
            <a:ext cx="249631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Sold real-time afișat pentru fiecare cont (REQ-24)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200400" y="2697480"/>
            <a:ext cx="2697480" cy="1005840"/>
          </a:xfrm>
          <a:prstGeom prst="rect">
            <a:avLst/>
          </a:prstGeom>
          <a:solidFill>
            <a:srgbClr val="F1F5F9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3200400" y="2697480"/>
            <a:ext cx="73152" cy="1005840"/>
          </a:xfrm>
          <a:prstGeom prst="rect">
            <a:avLst/>
          </a:prstGeom>
          <a:solidFill>
            <a:srgbClr val="04785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337560" y="2788920"/>
            <a:ext cx="24963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Afișare IBAN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337560" y="3127248"/>
            <a:ext cx="249631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IBAN complet cu buton Copy (REQ-25, REQ-28)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126480" y="2697480"/>
            <a:ext cx="2697480" cy="1005840"/>
          </a:xfrm>
          <a:prstGeom prst="rect">
            <a:avLst/>
          </a:prstGeom>
          <a:solidFill>
            <a:srgbClr val="F1F5F9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6126480" y="2697480"/>
            <a:ext cx="73152" cy="1005840"/>
          </a:xfrm>
          <a:prstGeom prst="rect">
            <a:avLst/>
          </a:prstGeom>
          <a:solidFill>
            <a:srgbClr val="B4530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263640" y="2788920"/>
            <a:ext cx="24963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cont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263640" y="3127248"/>
            <a:ext cx="249631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Indicatorul Active/Inactive pentru fiecare cont (REQ-29)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1871019" y="3794760"/>
            <a:ext cx="2697480" cy="1005840"/>
          </a:xfrm>
          <a:prstGeom prst="rect">
            <a:avLst/>
          </a:prstGeom>
          <a:solidFill>
            <a:srgbClr val="F1F5F9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1871019" y="3794760"/>
            <a:ext cx="73152" cy="100584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2008179" y="3886200"/>
            <a:ext cx="24963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Deschidere cont nou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2008179" y="4224528"/>
            <a:ext cx="249631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poate alege valuta pentru cont secundar (REQ-26)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797099" y="3794760"/>
            <a:ext cx="2697480" cy="1005840"/>
          </a:xfrm>
          <a:prstGeom prst="rect">
            <a:avLst/>
          </a:prstGeom>
          <a:solidFill>
            <a:srgbClr val="F1F5F9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4797099" y="3794760"/>
            <a:ext cx="73152" cy="1005840"/>
          </a:xfrm>
          <a:prstGeom prst="rect">
            <a:avLst/>
          </a:prstGeom>
          <a:solidFill>
            <a:srgbClr val="0369A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4934259" y="3886200"/>
            <a:ext cx="24963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Tipuri de cont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934259" y="4224528"/>
            <a:ext cx="249631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Suport pentru conturi debit și credit (REQ-21, 22)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914400"/>
          </a:xfrm>
          <a:prstGeom prst="rect">
            <a:avLst/>
          </a:prstGeom>
          <a:solidFill>
            <a:srgbClr val="0369A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|  Transferuri Financiare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777240" y="1051560"/>
            <a:ext cx="658368" cy="658368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77240" y="105156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11480" y="1828800"/>
            <a:ext cx="1389888" cy="777240"/>
          </a:xfrm>
          <a:prstGeom prst="rect">
            <a:avLst/>
          </a:prstGeom>
          <a:solidFill>
            <a:srgbClr val="F1F5F9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11480" y="1874520"/>
            <a:ext cx="13898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Selectare cont sursă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11480" y="2231136"/>
            <a:ext cx="13898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Dropdown cu toate conturile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828800" y="1234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2496312" y="1051560"/>
            <a:ext cx="658368" cy="658368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496312" y="105156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2130552" y="1828800"/>
            <a:ext cx="1389888" cy="777240"/>
          </a:xfrm>
          <a:prstGeom prst="rect">
            <a:avLst/>
          </a:prstGeom>
          <a:solidFill>
            <a:srgbClr val="F1F5F9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130552" y="1874520"/>
            <a:ext cx="13898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Completare destinație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130552" y="2231136"/>
            <a:ext cx="13898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IBAN + Nume beneficiar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3547872" y="1234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4215384" y="1051560"/>
            <a:ext cx="658368" cy="658368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215384" y="105156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3849624" y="1828800"/>
            <a:ext cx="1389888" cy="777240"/>
          </a:xfrm>
          <a:prstGeom prst="rect">
            <a:avLst/>
          </a:prstGeom>
          <a:solidFill>
            <a:srgbClr val="F1F5F9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849624" y="1874520"/>
            <a:ext cx="13898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Sumă &amp; Referință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849624" y="2231136"/>
            <a:ext cx="13898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Validare sumă &gt; 0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5266944" y="1234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5934456" y="1051560"/>
            <a:ext cx="658368" cy="658368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934456" y="105156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5568696" y="1828800"/>
            <a:ext cx="1389888" cy="777240"/>
          </a:xfrm>
          <a:prstGeom prst="rect">
            <a:avLst/>
          </a:prstGeom>
          <a:solidFill>
            <a:srgbClr val="F1F5F9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568696" y="1874520"/>
            <a:ext cx="13898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Confirmare sumară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5568696" y="2231136"/>
            <a:ext cx="13898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Preview înainte de execuție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6986016" y="1234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7653528" y="1051560"/>
            <a:ext cx="658368" cy="658368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7653528" y="105156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31" name="Shape 29"/>
          <p:cNvSpPr/>
          <p:nvPr/>
        </p:nvSpPr>
        <p:spPr>
          <a:xfrm>
            <a:off x="7287768" y="1828800"/>
            <a:ext cx="1389888" cy="777240"/>
          </a:xfrm>
          <a:prstGeom prst="rect">
            <a:avLst/>
          </a:prstGeom>
          <a:solidFill>
            <a:srgbClr val="F1F5F9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7287768" y="1874520"/>
            <a:ext cx="13898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Execuție &amp; Confirmare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7287768" y="2231136"/>
            <a:ext cx="13898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tranzacție generat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274320" y="2834640"/>
            <a:ext cx="2697480" cy="2011680"/>
          </a:xfrm>
          <a:prstGeom prst="rect">
            <a:avLst/>
          </a:prstGeom>
          <a:solidFill>
            <a:srgbClr val="F1F5F9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274320" y="2834640"/>
            <a:ext cx="2697480" cy="36576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365760" y="283464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Validări implementate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411480" y="3337560"/>
            <a:ext cx="109728" cy="109728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603504" y="3291840"/>
            <a:ext cx="22677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Sumă strict pozitivă (REQ-35)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11480" y="3730752"/>
            <a:ext cx="109728" cy="109728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603504" y="3685032"/>
            <a:ext cx="22677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Fonduri suficiente în cont sursă (REQ-36)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11480" y="4123944"/>
            <a:ext cx="109728" cy="109728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603504" y="4078224"/>
            <a:ext cx="22677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IBAN destinație obligatoriu (REQ-34)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11480" y="4517136"/>
            <a:ext cx="109728" cy="109728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603504" y="4471416"/>
            <a:ext cx="22677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Confirmare înainte de execuție (REQ-38)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3200400" y="2834640"/>
            <a:ext cx="2697480" cy="2011680"/>
          </a:xfrm>
          <a:prstGeom prst="rect">
            <a:avLst/>
          </a:prstGeom>
          <a:solidFill>
            <a:srgbClr val="F1F5F9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3200400" y="2834640"/>
            <a:ext cx="2697480" cy="365760"/>
          </a:xfrm>
          <a:prstGeom prst="rect">
            <a:avLst/>
          </a:prstGeom>
          <a:solidFill>
            <a:srgbClr val="04785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3291840" y="283464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Funcționalități</a:t>
            </a:r>
            <a:endParaRPr lang="en-US" sz="1150" dirty="0"/>
          </a:p>
        </p:txBody>
      </p:sp>
      <p:sp>
        <p:nvSpPr>
          <p:cNvPr id="48" name="Shape 46"/>
          <p:cNvSpPr/>
          <p:nvPr/>
        </p:nvSpPr>
        <p:spPr>
          <a:xfrm>
            <a:off x="3337560" y="3337560"/>
            <a:ext cx="109728" cy="109728"/>
          </a:xfrm>
          <a:prstGeom prst="ellipse">
            <a:avLst/>
          </a:prstGeom>
          <a:solidFill>
            <a:srgbClr val="04785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3529584" y="3291840"/>
            <a:ext cx="22677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Actualizare sold în timp real (REQ-39)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3337560" y="3730752"/>
            <a:ext cx="109728" cy="109728"/>
          </a:xfrm>
          <a:prstGeom prst="ellipse">
            <a:avLst/>
          </a:prstGeom>
          <a:solidFill>
            <a:srgbClr val="04785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3529584" y="3685032"/>
            <a:ext cx="22677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Mesaj succes cu ID tranzacție (REQ-40)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3337560" y="4123944"/>
            <a:ext cx="109728" cy="109728"/>
          </a:xfrm>
          <a:prstGeom prst="ellipse">
            <a:avLst/>
          </a:prstGeom>
          <a:solidFill>
            <a:srgbClr val="04785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3529584" y="4078224"/>
            <a:ext cx="22677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Referință opțională la transfer (REQ-37)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3337560" y="4517136"/>
            <a:ext cx="109728" cy="109728"/>
          </a:xfrm>
          <a:prstGeom prst="ellipse">
            <a:avLst/>
          </a:prstGeom>
          <a:solidFill>
            <a:srgbClr val="04785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3529584" y="4471416"/>
            <a:ext cx="22677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Istoric transferuri recente vizibil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6126480" y="2834640"/>
            <a:ext cx="2697480" cy="2011680"/>
          </a:xfrm>
          <a:prstGeom prst="rect">
            <a:avLst/>
          </a:prstGeom>
          <a:solidFill>
            <a:srgbClr val="F1F5F9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7" name="Shape 55"/>
          <p:cNvSpPr/>
          <p:nvPr/>
        </p:nvSpPr>
        <p:spPr>
          <a:xfrm>
            <a:off x="6126480" y="2834640"/>
            <a:ext cx="2697480" cy="36576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6217920" y="283464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Tipuri de transfer</a:t>
            </a:r>
            <a:endParaRPr lang="en-US" sz="1150" dirty="0"/>
          </a:p>
        </p:txBody>
      </p:sp>
      <p:sp>
        <p:nvSpPr>
          <p:cNvPr id="59" name="Shape 57"/>
          <p:cNvSpPr/>
          <p:nvPr/>
        </p:nvSpPr>
        <p:spPr>
          <a:xfrm>
            <a:off x="6263640" y="3337560"/>
            <a:ext cx="109728" cy="109728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/>
          <p:nvPr/>
        </p:nvSpPr>
        <p:spPr>
          <a:xfrm>
            <a:off x="6455664" y="3291840"/>
            <a:ext cx="22677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Între propriile conturi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6263640" y="3730752"/>
            <a:ext cx="109728" cy="109728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2" name="Text 60"/>
          <p:cNvSpPr/>
          <p:nvPr/>
        </p:nvSpPr>
        <p:spPr>
          <a:xfrm>
            <a:off x="6455664" y="3685032"/>
            <a:ext cx="22677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Către beneficiari externi (IBAN)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6263640" y="4123944"/>
            <a:ext cx="109728" cy="109728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4" name="Text 62"/>
          <p:cNvSpPr/>
          <p:nvPr/>
        </p:nvSpPr>
        <p:spPr>
          <a:xfrm>
            <a:off x="6455664" y="4078224"/>
            <a:ext cx="22677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în orice valută suportată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6263640" y="4517136"/>
            <a:ext cx="109728" cy="109728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6" name="Text 64"/>
          <p:cNvSpPr/>
          <p:nvPr/>
        </p:nvSpPr>
        <p:spPr>
          <a:xfrm>
            <a:off x="6455664" y="4471416"/>
            <a:ext cx="22677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Descriere / notă opțională (REQ-37)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914400"/>
          </a:xfrm>
          <a:prstGeom prst="rect">
            <a:avLst/>
          </a:prstGeom>
          <a:solidFill>
            <a:srgbClr val="B4530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|  Plăți Facturi (Bill Payments)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2834640" cy="3749040"/>
          </a:xfrm>
          <a:prstGeom prst="rect">
            <a:avLst/>
          </a:prstGeom>
          <a:solidFill>
            <a:srgbClr val="F1F5F9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" y="1051560"/>
            <a:ext cx="2834640" cy="411480"/>
          </a:xfrm>
          <a:prstGeom prst="rect">
            <a:avLst/>
          </a:prstGeom>
          <a:solidFill>
            <a:srgbClr val="B4530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20040" y="105156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Furnizori Disponibili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11480" y="1600200"/>
            <a:ext cx="2560320" cy="402336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02920" y="1627632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Electrica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331720" y="1655064"/>
            <a:ext cx="502920" cy="256032"/>
          </a:xfrm>
          <a:prstGeom prst="roundRect">
            <a:avLst>
              <a:gd name="adj" fmla="val 14286"/>
            </a:avLst>
          </a:prstGeom>
          <a:solidFill>
            <a:srgbClr val="EEF2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331720" y="1655064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REQ-41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411480" y="2103120"/>
            <a:ext cx="2560320" cy="402336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02920" y="2130552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Telefonica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331720" y="2157984"/>
            <a:ext cx="502920" cy="256032"/>
          </a:xfrm>
          <a:prstGeom prst="roundRect">
            <a:avLst>
              <a:gd name="adj" fmla="val 14286"/>
            </a:avLst>
          </a:prstGeom>
          <a:solidFill>
            <a:srgbClr val="EEF2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2331720" y="2157984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REQ-42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411480" y="2606040"/>
            <a:ext cx="2560320" cy="402336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02920" y="2633472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💧 Servicii Apă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331720" y="2660904"/>
            <a:ext cx="502920" cy="256032"/>
          </a:xfrm>
          <a:prstGeom prst="roundRect">
            <a:avLst>
              <a:gd name="adj" fmla="val 14286"/>
            </a:avLst>
          </a:prstGeom>
          <a:solidFill>
            <a:srgbClr val="EEF2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2331720" y="2660904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REQ-43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411480" y="3108960"/>
            <a:ext cx="2560320" cy="402336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02920" y="3136392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Internet Provider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331720" y="3163824"/>
            <a:ext cx="502920" cy="256032"/>
          </a:xfrm>
          <a:prstGeom prst="roundRect">
            <a:avLst>
              <a:gd name="adj" fmla="val 14286"/>
            </a:avLst>
          </a:prstGeom>
          <a:solidFill>
            <a:srgbClr val="EEF2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2331720" y="3163824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REQ-43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2331720" y="3666744"/>
            <a:ext cx="502920" cy="256032"/>
          </a:xfrm>
          <a:prstGeom prst="roundRect">
            <a:avLst>
              <a:gd name="adj" fmla="val 14286"/>
            </a:avLst>
          </a:prstGeom>
          <a:solidFill>
            <a:srgbClr val="EEF2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411480" y="3615394"/>
            <a:ext cx="2560320" cy="402336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502920" y="3642826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➕ Alte Servicii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2331720" y="3670258"/>
            <a:ext cx="502920" cy="256032"/>
          </a:xfrm>
          <a:prstGeom prst="roundRect">
            <a:avLst>
              <a:gd name="adj" fmla="val 14286"/>
            </a:avLst>
          </a:prstGeom>
          <a:solidFill>
            <a:srgbClr val="EEF2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2331720" y="3670258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REQ-43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3337560" y="1051560"/>
            <a:ext cx="2697480" cy="1783080"/>
          </a:xfrm>
          <a:prstGeom prst="rect">
            <a:avLst/>
          </a:prstGeom>
          <a:solidFill>
            <a:srgbClr val="F1F5F9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3337560" y="1051560"/>
            <a:ext cx="2697480" cy="365760"/>
          </a:xfrm>
          <a:prstGeom prst="rect">
            <a:avLst/>
          </a:prstGeom>
          <a:solidFill>
            <a:srgbClr val="B4530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3429000" y="105156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Formular Plată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3474720" y="1609344"/>
            <a:ext cx="91440" cy="91440"/>
          </a:xfrm>
          <a:prstGeom prst="ellipse">
            <a:avLst/>
          </a:prstGeom>
          <a:solidFill>
            <a:srgbClr val="B4530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3639312" y="1554480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Selectare cont sursă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3474720" y="1929384"/>
            <a:ext cx="91440" cy="91440"/>
          </a:xfrm>
          <a:prstGeom prst="ellipse">
            <a:avLst/>
          </a:prstGeom>
          <a:solidFill>
            <a:srgbClr val="B4530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3639312" y="1874520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Alegere furnizor din dropdown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3474720" y="2249424"/>
            <a:ext cx="91440" cy="91440"/>
          </a:xfrm>
          <a:prstGeom prst="ellipse">
            <a:avLst/>
          </a:prstGeom>
          <a:solidFill>
            <a:srgbClr val="B4530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3639312" y="2194560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Câmp sumă și referință opțională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3474720" y="2569464"/>
            <a:ext cx="91440" cy="91440"/>
          </a:xfrm>
          <a:prstGeom prst="ellipse">
            <a:avLst/>
          </a:prstGeom>
          <a:solidFill>
            <a:srgbClr val="B4530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3639312" y="2514600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Buton Pay Bill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6144768" y="1051560"/>
            <a:ext cx="2697480" cy="1783080"/>
          </a:xfrm>
          <a:prstGeom prst="rect">
            <a:avLst/>
          </a:prstGeom>
          <a:solidFill>
            <a:srgbClr val="F1F5F9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6144768" y="1051560"/>
            <a:ext cx="2697480" cy="36576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6236208" y="105156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Furnizori Salvați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6281928" y="1609344"/>
            <a:ext cx="91440" cy="91440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6446520" y="1554480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Panou Saved Billers (REQ-47)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6281928" y="1929384"/>
            <a:ext cx="91440" cy="91440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6446520" y="1874520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Buton Remove pentru fiecare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6281928" y="2249424"/>
            <a:ext cx="91440" cy="91440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6446520" y="2194560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Opțiune Add New Biller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6281928" y="2569464"/>
            <a:ext cx="91440" cy="91440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6446520" y="2514600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Pay din lista salvată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3337560" y="2926080"/>
            <a:ext cx="5596128" cy="1783080"/>
          </a:xfrm>
          <a:prstGeom prst="rect">
            <a:avLst/>
          </a:prstGeom>
          <a:solidFill>
            <a:srgbClr val="F1F5F9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5" name="Shape 53"/>
          <p:cNvSpPr/>
          <p:nvPr/>
        </p:nvSpPr>
        <p:spPr>
          <a:xfrm>
            <a:off x="3337560" y="2926080"/>
            <a:ext cx="5596128" cy="365760"/>
          </a:xfrm>
          <a:prstGeom prst="rect">
            <a:avLst/>
          </a:prstGeom>
          <a:solidFill>
            <a:srgbClr val="04785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3429000" y="2926080"/>
            <a:ext cx="5413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Istoric &amp; Chitanțe</a:t>
            </a:r>
            <a:endParaRPr lang="en-US" sz="1200" dirty="0"/>
          </a:p>
        </p:txBody>
      </p:sp>
      <p:sp>
        <p:nvSpPr>
          <p:cNvPr id="57" name="Shape 55"/>
          <p:cNvSpPr/>
          <p:nvPr/>
        </p:nvSpPr>
        <p:spPr>
          <a:xfrm>
            <a:off x="3520440" y="3483864"/>
            <a:ext cx="91440" cy="91440"/>
          </a:xfrm>
          <a:prstGeom prst="ellipse">
            <a:avLst/>
          </a:prstGeom>
          <a:solidFill>
            <a:srgbClr val="04785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3685032" y="3429000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Secțiunea Recent Payments (REQ-48)</a:t>
            </a:r>
            <a:endParaRPr lang="en-US" sz="1050" dirty="0"/>
          </a:p>
        </p:txBody>
      </p:sp>
      <p:sp>
        <p:nvSpPr>
          <p:cNvPr id="59" name="Shape 57"/>
          <p:cNvSpPr/>
          <p:nvPr/>
        </p:nvSpPr>
        <p:spPr>
          <a:xfrm>
            <a:off x="6263640" y="3483864"/>
            <a:ext cx="91440" cy="91440"/>
          </a:xfrm>
          <a:prstGeom prst="ellipse">
            <a:avLst/>
          </a:prstGeom>
          <a:solidFill>
            <a:srgbClr val="04785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/>
          <p:nvPr/>
        </p:nvSpPr>
        <p:spPr>
          <a:xfrm>
            <a:off x="6428232" y="3429000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Data, furnizor, sumă, status</a:t>
            </a:r>
            <a:endParaRPr lang="en-US" sz="1050" dirty="0"/>
          </a:p>
        </p:txBody>
      </p:sp>
      <p:sp>
        <p:nvSpPr>
          <p:cNvPr id="63" name="Shape 61"/>
          <p:cNvSpPr/>
          <p:nvPr/>
        </p:nvSpPr>
        <p:spPr>
          <a:xfrm>
            <a:off x="3499346" y="3877056"/>
            <a:ext cx="91440" cy="91440"/>
          </a:xfrm>
          <a:prstGeom prst="ellipse">
            <a:avLst/>
          </a:prstGeom>
          <a:solidFill>
            <a:srgbClr val="04785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4" name="Text 62"/>
          <p:cNvSpPr/>
          <p:nvPr/>
        </p:nvSpPr>
        <p:spPr>
          <a:xfrm>
            <a:off x="3663938" y="3822192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Completed vizibil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91440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|  Profil &amp; Setări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2743200" cy="3749040"/>
          </a:xfrm>
          <a:prstGeom prst="rect">
            <a:avLst/>
          </a:prstGeom>
          <a:solidFill>
            <a:srgbClr val="F1F5F9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" y="1051560"/>
            <a:ext cx="2743200" cy="41148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20040" y="105156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Personale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11480" y="1709928"/>
            <a:ext cx="128016" cy="128016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21792" y="1645920"/>
            <a:ext cx="22860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Vizualizare profil: Nume, Email, CNP, Adresă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11480" y="2322576"/>
            <a:ext cx="128016" cy="128016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21792" y="2258568"/>
            <a:ext cx="22860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Modificare Prenume / Nume (REQ-51)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11480" y="2935224"/>
            <a:ext cx="128016" cy="128016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21792" y="2871216"/>
            <a:ext cx="22860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Schimbare Email și Telefon (REQ-57)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11480" y="3547872"/>
            <a:ext cx="128016" cy="128016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21792" y="3483864"/>
            <a:ext cx="22860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Actualizare adresă de domiciliu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11480" y="4160520"/>
            <a:ext cx="128016" cy="128016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21792" y="4096512"/>
            <a:ext cx="22860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Buton Save Changes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246120" y="1051560"/>
            <a:ext cx="2743200" cy="3749040"/>
          </a:xfrm>
          <a:prstGeom prst="rect">
            <a:avLst/>
          </a:prstGeom>
          <a:solidFill>
            <a:srgbClr val="F1F5F9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3246120" y="1051560"/>
            <a:ext cx="2743200" cy="41148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291840" y="105156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Securitate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383280" y="1709928"/>
            <a:ext cx="128016" cy="128016"/>
          </a:xfrm>
          <a:prstGeom prst="ellipse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593592" y="1645920"/>
            <a:ext cx="22860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Schimbare parolă cu confirmare (REQ-52)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383280" y="2322576"/>
            <a:ext cx="128016" cy="128016"/>
          </a:xfrm>
          <a:prstGeom prst="ellipse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593592" y="2258568"/>
            <a:ext cx="22860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Câmp Current Password obligatoriu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383280" y="2935224"/>
            <a:ext cx="128016" cy="128016"/>
          </a:xfrm>
          <a:prstGeom prst="ellipse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3593592" y="2871216"/>
            <a:ext cx="22860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Validare New Password + Confirm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3383280" y="3547872"/>
            <a:ext cx="128016" cy="128016"/>
          </a:xfrm>
          <a:prstGeom prst="ellipse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3593592" y="3483864"/>
            <a:ext cx="22860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Buton Update Password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3383280" y="4160520"/>
            <a:ext cx="128016" cy="128016"/>
          </a:xfrm>
          <a:prstGeom prst="ellipse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3593592" y="4096512"/>
            <a:ext cx="22860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Parolă mascată în câmpuri (REQ-12)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217920" y="1051560"/>
            <a:ext cx="2651760" cy="3749040"/>
          </a:xfrm>
          <a:prstGeom prst="rect">
            <a:avLst/>
          </a:prstGeom>
          <a:solidFill>
            <a:srgbClr val="F1F5F9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6217920" y="1051560"/>
            <a:ext cx="2651760" cy="411480"/>
          </a:xfrm>
          <a:prstGeom prst="rect">
            <a:avLst/>
          </a:prstGeom>
          <a:solidFill>
            <a:srgbClr val="04785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6263640" y="105156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Carduri &amp; Conturi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6355080" y="1709928"/>
            <a:ext cx="128016" cy="128016"/>
          </a:xfrm>
          <a:prstGeom prst="ellipse">
            <a:avLst/>
          </a:prstGeom>
          <a:solidFill>
            <a:srgbClr val="04785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6565392" y="1645920"/>
            <a:ext cx="21945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Panou My Cards cu ultimele 4 cifre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6355080" y="2322576"/>
            <a:ext cx="128016" cy="128016"/>
          </a:xfrm>
          <a:prstGeom prst="ellipse">
            <a:avLst/>
          </a:prstGeom>
          <a:solidFill>
            <a:srgbClr val="04785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6565392" y="2258568"/>
            <a:ext cx="21945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expirare și status Active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6355080" y="2935224"/>
            <a:ext cx="128016" cy="128016"/>
          </a:xfrm>
          <a:prstGeom prst="ellipse">
            <a:avLst/>
          </a:prstGeom>
          <a:solidFill>
            <a:srgbClr val="04785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6565392" y="2871216"/>
            <a:ext cx="21945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Buton Manage pentru fiecare card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6355080" y="3547872"/>
            <a:ext cx="128016" cy="128016"/>
          </a:xfrm>
          <a:prstGeom prst="ellipse">
            <a:avLst/>
          </a:prstGeom>
          <a:solidFill>
            <a:srgbClr val="04785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6565392" y="3483864"/>
            <a:ext cx="21945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Cerere card nou (debit/credit)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6355080" y="4160520"/>
            <a:ext cx="128016" cy="128016"/>
          </a:xfrm>
          <a:prstGeom prst="ellipse">
            <a:avLst/>
          </a:prstGeom>
          <a:solidFill>
            <a:srgbClr val="04785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6565392" y="4096512"/>
            <a:ext cx="21945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Deschidere cont nou pe valută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914400"/>
          </a:xfrm>
          <a:prstGeom prst="rect">
            <a:avLst/>
          </a:prstGeom>
          <a:solidFill>
            <a:srgbClr val="065F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Cerințe Non-Funcționale Implementate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4114800" cy="1874520"/>
          </a:xfrm>
          <a:prstGeom prst="rect">
            <a:avLst/>
          </a:prstGeom>
          <a:solidFill>
            <a:srgbClr val="F1F5F9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" y="1051560"/>
            <a:ext cx="4114800" cy="36576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65760" y="105156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Securitate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11480" y="1572768"/>
            <a:ext cx="91440" cy="91440"/>
          </a:xfrm>
          <a:prstGeom prst="ellipse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76072" y="1527048"/>
            <a:ext cx="37033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 pe toate comunicațiile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11480" y="1865376"/>
            <a:ext cx="91440" cy="91440"/>
          </a:xfrm>
          <a:prstGeom prst="ellipse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76072" y="1819656"/>
            <a:ext cx="37033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Parole stocate cu bcrypt hashing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11480" y="2157984"/>
            <a:ext cx="91440" cy="91440"/>
          </a:xfrm>
          <a:prstGeom prst="ellipse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76072" y="2112264"/>
            <a:ext cx="37033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tokens cu invalidare la logout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11480" y="2419642"/>
            <a:ext cx="91440" cy="91440"/>
          </a:xfrm>
          <a:prstGeom prst="ellipse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76072" y="2373922"/>
            <a:ext cx="37033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 strict per utilizator autentificat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709160" y="1051560"/>
            <a:ext cx="4114800" cy="1874520"/>
          </a:xfrm>
          <a:prstGeom prst="rect">
            <a:avLst/>
          </a:prstGeom>
          <a:solidFill>
            <a:srgbClr val="F1F5F9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709160" y="1051560"/>
            <a:ext cx="4114800" cy="365760"/>
          </a:xfrm>
          <a:prstGeom prst="rect">
            <a:avLst/>
          </a:prstGeom>
          <a:solidFill>
            <a:srgbClr val="B4530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800600" y="105156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Performanță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846320" y="1572768"/>
            <a:ext cx="91440" cy="91440"/>
          </a:xfrm>
          <a:prstGeom prst="ellipse">
            <a:avLst/>
          </a:prstGeom>
          <a:solidFill>
            <a:srgbClr val="B4530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010912" y="1527048"/>
            <a:ext cx="37033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Răspuns login/dashboard &lt; 3 secunde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846320" y="1865376"/>
            <a:ext cx="91440" cy="91440"/>
          </a:xfrm>
          <a:prstGeom prst="ellipse">
            <a:avLst/>
          </a:prstGeom>
          <a:solidFill>
            <a:srgbClr val="B4530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010912" y="1819656"/>
            <a:ext cx="37033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Interogări DB optimizate cu EF Core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846320" y="2157984"/>
            <a:ext cx="91440" cy="91440"/>
          </a:xfrm>
          <a:prstGeom prst="ellipse">
            <a:avLst/>
          </a:prstGeom>
          <a:solidFill>
            <a:srgbClr val="B4530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010912" y="2112264"/>
            <a:ext cx="37033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Transferuri confirmate în &lt; 5 secunde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846320" y="2450592"/>
            <a:ext cx="91440" cy="91440"/>
          </a:xfrm>
          <a:prstGeom prst="ellipse">
            <a:avLst/>
          </a:prstGeom>
          <a:solidFill>
            <a:srgbClr val="B4530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5010912" y="2404872"/>
            <a:ext cx="37033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Actualizare sold în timp real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846320" y="2743200"/>
            <a:ext cx="91440" cy="91440"/>
          </a:xfrm>
          <a:prstGeom prst="ellipse">
            <a:avLst/>
          </a:prstGeom>
          <a:solidFill>
            <a:srgbClr val="B4530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5010912" y="2697480"/>
            <a:ext cx="37033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Paginare pentru istoricul tranzacțiilor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74320" y="3063240"/>
            <a:ext cx="4114800" cy="1874520"/>
          </a:xfrm>
          <a:prstGeom prst="rect">
            <a:avLst/>
          </a:prstGeom>
          <a:solidFill>
            <a:srgbClr val="F1F5F9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274320" y="3063240"/>
            <a:ext cx="4114800" cy="365760"/>
          </a:xfrm>
          <a:prstGeom prst="rect">
            <a:avLst/>
          </a:prstGeom>
          <a:solidFill>
            <a:srgbClr val="04785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365760" y="306324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Disponibilitate &amp; Calitate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411480" y="3584448"/>
            <a:ext cx="91440" cy="91440"/>
          </a:xfrm>
          <a:prstGeom prst="ellipse">
            <a:avLst/>
          </a:prstGeom>
          <a:solidFill>
            <a:srgbClr val="04785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576072" y="3538728"/>
            <a:ext cx="37033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Interfață simplă și intuitivă (Usability)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11480" y="3877056"/>
            <a:ext cx="91440" cy="91440"/>
          </a:xfrm>
          <a:prstGeom prst="ellipse">
            <a:avLst/>
          </a:prstGeom>
          <a:solidFill>
            <a:srgbClr val="04785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576072" y="3831336"/>
            <a:ext cx="37033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Mesaje de eroare inline la câmpuri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11480" y="4169664"/>
            <a:ext cx="91440" cy="91440"/>
          </a:xfrm>
          <a:prstGeom prst="ellipse">
            <a:avLst/>
          </a:prstGeom>
          <a:solidFill>
            <a:srgbClr val="04785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576072" y="4123944"/>
            <a:ext cx="37033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Validări client + server pentru date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11480" y="4462272"/>
            <a:ext cx="91440" cy="91440"/>
          </a:xfrm>
          <a:prstGeom prst="ellipse">
            <a:avLst/>
          </a:prstGeom>
          <a:solidFill>
            <a:srgbClr val="04785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576072" y="4416552"/>
            <a:ext cx="37033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monetare afișate cu 2 zecimale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11480" y="4754880"/>
            <a:ext cx="91440" cy="91440"/>
          </a:xfrm>
          <a:prstGeom prst="ellipse">
            <a:avLst/>
          </a:prstGeom>
          <a:solidFill>
            <a:srgbClr val="04785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576072" y="4709160"/>
            <a:ext cx="37033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Navigare consistentă pe toate paginile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709160" y="3063240"/>
            <a:ext cx="4114800" cy="1874520"/>
          </a:xfrm>
          <a:prstGeom prst="rect">
            <a:avLst/>
          </a:prstGeom>
          <a:solidFill>
            <a:srgbClr val="F1F5F9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4709160" y="3063240"/>
            <a:ext cx="4114800" cy="36576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4800600" y="306324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Conformitate (GDPR)</a:t>
            </a:r>
            <a:endParaRPr lang="en-US" sz="1300" dirty="0"/>
          </a:p>
        </p:txBody>
      </p:sp>
      <p:sp>
        <p:nvSpPr>
          <p:cNvPr id="47" name="Shape 45"/>
          <p:cNvSpPr/>
          <p:nvPr/>
        </p:nvSpPr>
        <p:spPr>
          <a:xfrm>
            <a:off x="4846320" y="3584448"/>
            <a:ext cx="91440" cy="91440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5010912" y="3538728"/>
            <a:ext cx="37033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Stocarea datelor personale securizată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4846320" y="3877056"/>
            <a:ext cx="91440" cy="91440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5010912" y="3831336"/>
            <a:ext cx="37033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transmise doar prin HTTPS (criptat)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4846320" y="4169664"/>
            <a:ext cx="91440" cy="91440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5010912" y="4123944"/>
            <a:ext cx="37033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ID generat automat (anonim)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4846320" y="4462272"/>
            <a:ext cx="91440" cy="91440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5010912" y="4416552"/>
            <a:ext cx="37033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Retenție tranzacții conform reglementărilor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4846320" y="4754880"/>
            <a:ext cx="91440" cy="91440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5010912" y="4709160"/>
            <a:ext cx="37033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 restricționat la date proprii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858000" y="2743200"/>
            <a:ext cx="3200400" cy="3200400"/>
          </a:xfrm>
          <a:prstGeom prst="ellipse">
            <a:avLst/>
          </a:prstGeom>
          <a:solidFill>
            <a:srgbClr val="1A3A8F">
              <a:alpha val="40000"/>
            </a:srgbClr>
          </a:solidFill>
          <a:ln w="12700">
            <a:solidFill>
              <a:srgbClr val="1A3A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54864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Concluzii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02920" y="1280160"/>
            <a:ext cx="3200400" cy="36576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02920" y="1508760"/>
            <a:ext cx="201168" cy="201168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22960" y="1444752"/>
            <a:ext cx="7498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 web distribuit complet funcțional pe ASP.NET Core 9 + PostgreSQL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02920" y="2148840"/>
            <a:ext cx="201168" cy="201168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22960" y="2084832"/>
            <a:ext cx="7498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Implementate toate funcționalitățile de bază din SRS (înregistrare, autentificare, conturi, transferuri, plăți, profil)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02920" y="2788920"/>
            <a:ext cx="201168" cy="201168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22960" y="2724912"/>
            <a:ext cx="7498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Securitate implementată: HTTPS, parole hash-uite, sesiuni cu token, blocare cont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02920" y="3429000"/>
            <a:ext cx="201168" cy="201168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22960" y="3364992"/>
            <a:ext cx="7498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Arhitectură multi-tier cu separare clară: Client → Web → App → DB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02920" y="4069080"/>
            <a:ext cx="201168" cy="201168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22960" y="4005072"/>
            <a:ext cx="7498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Interfață intuitivă cu validări inline și mesaje de eroare clare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02920" y="45720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i="1" dirty="0">
                <a:solidFill>
                  <a:srgbClr val="BFCB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Mulțumim pentru atenție!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900</Words>
  <Application>Microsoft Office PowerPoint</Application>
  <PresentationFormat>On-screen Show (16:9)</PresentationFormat>
  <Paragraphs>200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Distributed Information System for Banking Transactions</dc:title>
  <dc:subject>PptxGenJS Presentation</dc:subject>
  <dc:creator>PptxGenJS</dc:creator>
  <cp:lastModifiedBy>Andrei Pena</cp:lastModifiedBy>
  <cp:revision>2</cp:revision>
  <dcterms:created xsi:type="dcterms:W3CDTF">2026-05-02T14:42:33Z</dcterms:created>
  <dcterms:modified xsi:type="dcterms:W3CDTF">2026-05-02T15:01:06Z</dcterms:modified>
</cp:coreProperties>
</file>